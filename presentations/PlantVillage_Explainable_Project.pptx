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Explainable Plant-Disease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370"/>
                </a:solidFill>
              </a:defRPr>
            </a:pPr>
            <a:r>
              <a:t>Deep Learning Project - CO3 / CO4 / CO5  |  Reg. No. 2430010316  |  Batch F  |  Manipal University Jaipur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F242E"/>
                </a:solidFill>
              </a:defRPr>
            </a:pPr>
            <a:r>
              <a:t>Real data: PlantVillage, 38 classes, 54,305 colour images (CPU study subset: 7,552 images, 96x96).</a:t>
            </a:r>
          </a:p>
          <a:p>
            <a:pPr>
              <a:spcAft>
                <a:spcPts val="600"/>
              </a:spcAft>
              <a:defRPr sz="2000" b="0">
                <a:solidFill>
                  <a:srgbClr val="1F242E"/>
                </a:solidFill>
              </a:defRPr>
            </a:pPr>
            <a:r>
              <a:t>Question: does a leaf classifier look at the leaf, or at the background?</a:t>
            </a:r>
          </a:p>
          <a:p>
            <a:pPr>
              <a:spcAft>
                <a:spcPts val="600"/>
              </a:spcAft>
              <a:defRPr sz="2000" b="0">
                <a:solidFill>
                  <a:srgbClr val="1F242E"/>
                </a:solidFill>
              </a:defRPr>
            </a:pPr>
            <a:r>
              <a:t>Contribution: background randomisation (+ mask-supervised attention) and a robustness test that measures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Dataset and preprocessing (CO3)</a:t>
            </a:r>
          </a:p>
        </p:txBody>
      </p:sp>
      <p:pic>
        <p:nvPicPr>
          <p:cNvPr id="3" name="Picture 2" descr="graph_datas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6766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F242E"/>
                </a:solidFill>
              </a:defRPr>
            </a:pPr>
            <a:r>
              <a:t>54,305 images, 38 classes (PlantVillage, pinned commit).</a:t>
            </a:r>
          </a:p>
          <a:p>
            <a:pPr>
              <a:spcAft>
                <a:spcPts val="600"/>
              </a:spcAft>
              <a:defRPr sz="1600" b="0">
                <a:solidFill>
                  <a:srgbClr val="1F242E"/>
                </a:solidFill>
              </a:defRPr>
            </a:pPr>
            <a:r>
              <a:t>Study subset: max 200/class = 7,552 images.</a:t>
            </a:r>
          </a:p>
          <a:p>
            <a:pPr>
              <a:spcAft>
                <a:spcPts val="600"/>
              </a:spcAft>
              <a:defRPr sz="1600" b="0">
                <a:solidFill>
                  <a:srgbClr val="1F242E"/>
                </a:solidFill>
              </a:defRPr>
            </a:pPr>
            <a:r>
              <a:t>Stratified split 70/15/15, seed 42 (5286 / 1133 / 1133).</a:t>
            </a:r>
          </a:p>
          <a:p>
            <a:pPr>
              <a:spcAft>
                <a:spcPts val="600"/>
              </a:spcAft>
              <a:defRPr sz="1600" b="0">
                <a:solidFill>
                  <a:srgbClr val="1F242E"/>
                </a:solidFill>
              </a:defRPr>
            </a:pPr>
            <a:r>
              <a:t>Resize 96x96, normalise, flip / rot90 / brightness augmentation.</a:t>
            </a:r>
          </a:p>
          <a:p>
            <a:pPr>
              <a:spcAft>
                <a:spcPts val="600"/>
              </a:spcAft>
              <a:defRPr sz="1600" b="0">
                <a:solidFill>
                  <a:srgbClr val="1F242E"/>
                </a:solidFill>
              </a:defRPr>
            </a:pPr>
            <a:r>
              <a:t>Leaf masks from segmented images - used only in training and evaluation, never at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Pipeline and models (CO3)</a:t>
            </a:r>
          </a:p>
        </p:txBody>
      </p:sp>
      <p:pic>
        <p:nvPicPr>
          <p:cNvPr id="3" name="Picture 2" descr="grap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247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Results: classification metrics (CO3)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370"/>
                </a:solidFill>
              </a:defRPr>
            </a:pPr>
            <a:r>
              <a:t>Test split, 1133 images. Accuracy, macro P/R/F1, ROC-AUC (OvR), specificity in results.csv</a:t>
            </a:r>
          </a:p>
        </p:txBody>
      </p:sp>
      <p:pic>
        <p:nvPicPr>
          <p:cNvPr id="4" name="Picture 3" descr="training_curve_pretr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2094807"/>
          </a:xfrm>
          <a:prstGeom prst="rect">
            <a:avLst/>
          </a:prstGeom>
        </p:spPr>
      </p:pic>
      <p:pic>
        <p:nvPicPr>
          <p:cNvPr id="5" name="Picture 4" descr="confusion_pre_mnv3_bgaug_s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632704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404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242E"/>
                </a:solidFill>
              </a:defRPr>
            </a:pPr>
            <a:r>
              <a:t>Proposed model (3 seeds): accuracy 0.9653 ± 0.0061, macro-F1 0.9647 ± 0.0063.</a:t>
            </a:r>
          </a:p>
          <a:p>
            <a:pPr>
              <a:spcAft>
                <a:spcPts val="600"/>
              </a:spcAft>
              <a:defRPr sz="1500" b="0">
                <a:solidFill>
                  <a:srgbClr val="1F242E"/>
                </a:solidFill>
              </a:defRPr>
            </a:pPr>
            <a:r>
              <a:t>Per-class precision / recall / F1 / specificity and ROC-AUC: results/results.csv, results/perclass_*.csv.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CO4: comparison with state of the art, same data and split</a:t>
            </a:r>
          </a:p>
        </p:txBody>
      </p:sp>
      <p:pic>
        <p:nvPicPr>
          <p:cNvPr id="3" name="Picture 2" descr="graph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949440" cy="389168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463040"/>
          <a:ext cx="4572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F1(macro)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BG-swap Acc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ResNet-style (scratch)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0.1306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MobileNet-style (scratch)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0.1183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Tiny ViT (scratch)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0.8508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0.8505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0.0953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MobileNetV3-L (pre)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0.9762 ± 0.0036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0.9760 ± 0.0036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0.4901 ± 0.0348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EfficientNet-B0 (pre)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0.4351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Baseline LeafNet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0.8906 ± 0.0148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0.8884 ± 0.0147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0.1506 ± 0.0069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LeafNet A+B+C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0.7988 ± 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0.7939 ± 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0.7182 ± 0.0055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MobileNetV3-L-pre + B = 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0.9653 ± 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0.9647 ± 0.0063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0.9400 ± 0.0050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B6370"/>
                </a:solidFill>
              </a:defRPr>
            </a:pPr>
            <a:r>
              <a:t>Mohanty et al. 2016 (~99.35%) is context only: different protocol, full data, 256 px. Not a like-for-like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CO5: innovation - background randomisation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B6370"/>
                </a:solidFill>
              </a:defRPr>
            </a:pPr>
            <a:r>
              <a:t>Pretrained backbones score high but collapse when the background is swapped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BG-swap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Leaf-focus (clean)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MobileNetV3-L pretrained (plain)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0.9762 ± 0.0036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0.4901 ± 0.0348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0.5985 ± 0.0020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MobileNetV3-L pretrained + background randomisation 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0.9653 ± 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0.9400 ± 0.0050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0.6680 ± 0.0066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Plain pretrained MobileNetV3-L: 0.9762 ± 0.0036 accuracy (mean of 3 seeds) but only 0.4901 ± 0.0348 with a swapped background.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With background randomisation: 0.9653 ± 0.0061 accuracy, 0.9400 ± 0.0050 under swap.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Cost: a small drop in clean accuracy; gain: the model no longer depends on the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CO5: ablation study (LeafNet, from scratch, 3 seeds)</a:t>
            </a:r>
          </a:p>
        </p:txBody>
      </p:sp>
      <p:pic>
        <p:nvPicPr>
          <p:cNvPr id="3" name="Picture 2" descr="graph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66560" cy="270662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23760" y="146304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BG-swap Acc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Baseline LeafNet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0.8906 ± 0.0148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0.1506 ± 0.0069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 SE attention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0.8856 ± 0.0040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0.1424 ± 0.0106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 background randomisation (A+B)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0.8152 ± 0.0011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0.7040 ± 0.0034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 mask-supervised spatial attention (A+B+C) = LeafNet A+B+C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0.7988 ± 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0.7182 ± 0.0055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B6370"/>
                </a:solidFill>
              </a:defRPr>
            </a:pPr>
            <a:r>
              <a:t>Squeeze-and-excitation gave no gain; background randomisation is the main effect; mask-supervised attention is a small robustness gain at an accuracy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Explainability (Grad-CAM)</a:t>
            </a:r>
          </a:p>
        </p:txBody>
      </p:sp>
      <p:pic>
        <p:nvPicPr>
          <p:cNvPr id="3" name="Picture 2" descr="gradcam_pretr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155680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Limitations and honest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CPU study: subset (7,552 images) at 96 px. Full-data GPU run is a tracked issue (Colab notebook provided, not yet run on a GPU).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Random per-image split: near-duplicate leaves may leak between train and test, so accuracies may be optimistic.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Background-swap test is synthetic; real field images are not yet evaluated.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Several rows use a single seed; the ablation rows use 3 seeds (mean +/- std).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Hyperparameters were not searched extensively (one learning-rate sensitivity check).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242E"/>
                </a:solidFill>
              </a:defRPr>
            </a:pPr>
            <a:r>
              <a:t>Reproducibility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Pinned requirements.txt, fixed seeds and split, resumable run scripts, pip install -r requirements.txt.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python code/demo.py --image leaf.jpg  -&gt;  prediction + Grad-CAM overlay.</a:t>
            </a:r>
          </a:p>
          <a:p>
            <a:pPr>
              <a:spcAft>
                <a:spcPts val="600"/>
              </a:spcAft>
              <a:defRPr sz="1800" b="0">
                <a:solidFill>
                  <a:srgbClr val="1F242E"/>
                </a:solidFill>
              </a:defRPr>
            </a:pPr>
            <a:r>
              <a:t>Open issues: full-data Colab run, leakage-safe split, field images, hyperparameter search, web demo, 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